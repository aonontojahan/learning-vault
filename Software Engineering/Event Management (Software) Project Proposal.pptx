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264" r:id="rId4"/>
    <p:sldId id="266" r:id="rId5"/>
    <p:sldId id="265" r:id="rId6"/>
    <p:sldId id="268" r:id="rId7"/>
    <p:sldId id="271" r:id="rId8"/>
    <p:sldId id="273" r:id="rId9"/>
    <p:sldId id="274" r:id="rId10"/>
    <p:sldId id="275" r:id="rId11"/>
    <p:sldId id="276" r:id="rId12"/>
    <p:sldId id="277" r:id="rId13"/>
    <p:sldId id="278" r:id="rId14"/>
    <p:sldId id="287" r:id="rId15"/>
    <p:sldId id="279" r:id="rId16"/>
    <p:sldId id="280" r:id="rId17"/>
    <p:sldId id="282" r:id="rId18"/>
    <p:sldId id="283" r:id="rId19"/>
    <p:sldId id="284" r:id="rId20"/>
    <p:sldId id="285" r:id="rId21"/>
    <p:sldId id="281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72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4B2AD-A0EC-41ED-AD27-6C7495C2371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6A6A4-57A0-45BF-AD47-EC37F7800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252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979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96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936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503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48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95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758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53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090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6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114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4477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1186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515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21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749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0106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10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227003-D099-F67E-8ECB-55A441D17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BC96C123-876F-F4BD-61B6-44785A16B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EE39A42-AE56-C802-070F-45ED4F478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19A1AD-8787-1E72-AC8C-6E05B813C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BCB88C-DEFA-46FA-BEA6-4BEE2A16AE7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031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39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68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65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3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2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33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62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01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86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1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a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69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B0D30-C9E8-4E71-A23C-4CE49732D24D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60494-3EBD-4BD7-AB2B-EFCA36370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82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B764A89-8639-DC77-32B4-41C792C7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628A170-98D7-7FD8-F03E-6E2FC0AFA5F1}"/>
              </a:ext>
            </a:extLst>
          </p:cNvPr>
          <p:cNvGrpSpPr/>
          <p:nvPr/>
        </p:nvGrpSpPr>
        <p:grpSpPr>
          <a:xfrm>
            <a:off x="3169256" y="2576780"/>
            <a:ext cx="4493622" cy="923330"/>
            <a:chOff x="304136" y="2576780"/>
            <a:chExt cx="4493622" cy="923330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007F5875-6661-D149-917D-C795E0756736}"/>
                </a:ext>
              </a:extLst>
            </p:cNvPr>
            <p:cNvSpPr txBox="1"/>
            <p:nvPr/>
          </p:nvSpPr>
          <p:spPr>
            <a:xfrm>
              <a:off x="304136" y="2576780"/>
              <a:ext cx="44936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WELCOME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7341AB8-251B-1066-90CE-AAACA398BACF}"/>
                </a:ext>
              </a:extLst>
            </p:cNvPr>
            <p:cNvSpPr txBox="1"/>
            <p:nvPr/>
          </p:nvSpPr>
          <p:spPr>
            <a:xfrm>
              <a:off x="1310812" y="3238500"/>
              <a:ext cx="33822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1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374D64-6155-0F59-76A1-04A336D79FB3}"/>
              </a:ext>
            </a:extLst>
          </p:cNvPr>
          <p:cNvSpPr txBox="1"/>
          <p:nvPr/>
        </p:nvSpPr>
        <p:spPr>
          <a:xfrm>
            <a:off x="5383663" y="3369305"/>
            <a:ext cx="2364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Edwardian Script ITC" panose="030303020407070D0804" pitchFamily="66" charset="0"/>
              </a:rPr>
              <a:t>Everyone</a:t>
            </a:r>
            <a:endParaRPr lang="en-US" sz="3600" dirty="0">
              <a:latin typeface="Edwardian Script ITC" panose="030303020407070D0804" pitchFamily="66" charset="0"/>
            </a:endParaRPr>
          </a:p>
        </p:txBody>
      </p:sp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6DA880A1-5CB6-766A-C59A-8C3E5AE349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82865" y="-381000"/>
            <a:ext cx="7378149" cy="7239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6716A3C1-3650-B6AF-6A6F-A6156EE9BF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8942731" y="-381000"/>
            <a:ext cx="6018284" cy="7239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Triangle 19">
            <a:extLst>
              <a:ext uri="{FF2B5EF4-FFF2-40B4-BE49-F238E27FC236}">
                <a16:creationId xmlns="" xmlns:a16="http://schemas.microsoft.com/office/drawing/2014/main" id="{238B041C-33EE-B2EF-9BD2-7744D0B35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69015" y="0"/>
            <a:ext cx="7378149" cy="6858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ight Triangle 19">
            <a:extLst>
              <a:ext uri="{FF2B5EF4-FFF2-40B4-BE49-F238E27FC236}">
                <a16:creationId xmlns="" xmlns:a16="http://schemas.microsoft.com/office/drawing/2014/main" id="{13FB15AF-E0E9-E77D-13E8-0E15E19615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69015" y="0"/>
            <a:ext cx="6018284" cy="6858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aeed Faal">
            <a:extLst>
              <a:ext uri="{FF2B5EF4-FFF2-40B4-BE49-F238E27FC236}">
                <a16:creationId xmlns="" xmlns:a16="http://schemas.microsoft.com/office/drawing/2014/main" id="{29A6BA65-42EA-ED2F-4AAE-7BF09CDFF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8178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C 0.00677 -2.22222E-6 0.01237 0.01435 0.01237 0.03241 C 0.01237 0.05 0.00677 0.06482 8.33333E-7 0.06482 C -0.0069 0.06482 -0.01237 0.05 -0.01237 0.03241 C -0.01237 0.01435 -0.0069 -2.22222E-6 8.33333E-7 -2.22222E-6 Z " pathEditMode="relative" rAng="0" ptsTypes="AAAAA">
                                      <p:cBhvr>
                                        <p:cTn id="24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6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C 0.00677 -2.22222E-6 0.01237 0.01435 0.01237 0.03241 C 0.01237 0.05 0.00677 0.06482 1.66667E-6 0.06482 C -0.0069 0.06482 -0.01237 0.05 -0.01237 0.03241 C -0.01237 0.01435 -0.0069 -2.22222E-6 1.66667E-6 -2.22222E-6 Z " pathEditMode="relative" rAng="0" ptsTypes="AAAAA">
                                      <p:cBhvr>
                                        <p:cTn id="30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32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C 0.00677 0 0.01237 0.01435 0.01237 0.03241 C 0.01237 0.05 0.00677 0.06481 -1.45833E-6 0.06481 C -0.0069 0.06481 -0.01237 0.05 -0.01237 0.03241 C -0.01237 0.01435 -0.0069 0 -1.45833E-6 0 Z " pathEditMode="relative" rAng="0" ptsTypes="AAAAA">
                                      <p:cBhvr>
                                        <p:cTn id="3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38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 C 0.00677 0 0.01237 0.01435 0.01237 0.03241 C 0.01237 0.05 0.00677 0.06481 -6.25E-7 0.06481 C -0.0069 0.06481 -0.01237 0.05 -0.01237 0.03241 C -0.01237 0.01435 -0.0069 0 -6.25E-7 0 Z " pathEditMode="relative" rAng="0" ptsTypes="AAAAA">
                                      <p:cBhvr>
                                        <p:cTn id="42" dur="10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4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4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4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A8725671-5CDA-4B39-21B3-444385552324}"/>
              </a:ext>
            </a:extLst>
          </p:cNvPr>
          <p:cNvGrpSpPr/>
          <p:nvPr/>
        </p:nvGrpSpPr>
        <p:grpSpPr>
          <a:xfrm>
            <a:off x="1278828" y="2534275"/>
            <a:ext cx="6376840" cy="1877437"/>
            <a:chOff x="1574800" y="2705725"/>
            <a:chExt cx="5621414" cy="1877437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663143E3-C516-2A60-91D5-0EDD4096BB63}"/>
                </a:ext>
              </a:extLst>
            </p:cNvPr>
            <p:cNvSpPr txBox="1"/>
            <p:nvPr/>
          </p:nvSpPr>
          <p:spPr>
            <a:xfrm>
              <a:off x="1574800" y="2705725"/>
              <a:ext cx="562141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u="sng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PROJECT NAME</a:t>
              </a:r>
              <a:endParaRPr lang="en-US" sz="54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D585F4A8-BFDB-B439-F5AD-F550D3548527}"/>
                </a:ext>
              </a:extLst>
            </p:cNvPr>
            <p:cNvSpPr txBox="1"/>
            <p:nvPr/>
          </p:nvSpPr>
          <p:spPr>
            <a:xfrm>
              <a:off x="1715255" y="3629055"/>
              <a:ext cx="534050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Event Management Information System</a:t>
              </a:r>
              <a:endParaRPr 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1467548" y="4277558"/>
            <a:ext cx="60581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Aononto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Jahan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Junnurain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CSE, IUBAT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4041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516738" y="810229"/>
            <a:ext cx="6972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81923" y="2389898"/>
            <a:ext cx="102718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modern, scalable software solution for managing events of all sizes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using a structured SDLC approach to ensure quality, efficiency, and maintainability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using industry-standard CASE tools for precision in analysis, design, and testing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47730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63143E3-C516-2A60-91D5-0EDD4096BB63}"/>
              </a:ext>
            </a:extLst>
          </p:cNvPr>
          <p:cNvSpPr txBox="1"/>
          <p:nvPr/>
        </p:nvSpPr>
        <p:spPr>
          <a:xfrm>
            <a:off x="136891" y="988291"/>
            <a:ext cx="56214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433066" y="764547"/>
            <a:ext cx="6972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52856" y="2233919"/>
            <a:ext cx="102718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System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SDLC and CASE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event planning through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website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managing seminars,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workshops, conferences, birthday &amp; wedding.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ctr">
              <a:buFont typeface="Wingdings" panose="05000000000000000000" pitchFamily="2" charset="2"/>
              <a:buChar char="Ø"/>
            </a:pPr>
            <a:endParaRPr lang="en-US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3269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314814" y="867233"/>
            <a:ext cx="6972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02273" y="2285262"/>
            <a:ext cx="102362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 errors and inconsistencies across the process.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clear communication between all stakeholders.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Deliver a seamless user experience for both admins and</a:t>
            </a:r>
            <a:r>
              <a:rPr kumimoji="0" lang="en-US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secure, scalable, and maintainable solution.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participants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409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314814" y="815975"/>
            <a:ext cx="6972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1 - Planning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7464" y="1525075"/>
            <a:ext cx="10265818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is inefficient and prone to errors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Technical: Web technologies, cloud integration feasible.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 Long-term cost savings through automation.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Operational: High user adaptability and ease of training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011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020091" y="836773"/>
            <a:ext cx="69722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</a:t>
            </a:r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 Analysis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7464" y="1606214"/>
            <a:ext cx="10265818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stakeholder interviews and surveys.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 identified (registration, event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creation).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Modeling: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 (Level 0 &amp; Level 1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PHP, JavaScript, VS Code.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114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425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3 - System Design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15129" y="2237628"/>
            <a:ext cx="1025767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Normalized schema, 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Responsive design with clean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Role-based access control, data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PHP, HTML, CSS, Draw.io &amp;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603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267" y="1278466"/>
            <a:ext cx="9787468" cy="5181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66749" y="431254"/>
            <a:ext cx="7425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344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</a:t>
            </a:r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Implementation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131736"/>
            <a:ext cx="102576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ReactJS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HTML/CSS/Bootstrap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/ PHP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 / SQL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CI/CD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85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</a:t>
            </a:r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Testing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131737"/>
            <a:ext cx="102576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Testing w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ill be Performed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(e.g., user login, event creation)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(module interaction)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 (performance, load)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 (UAT) with sample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Postman.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794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5 - Deployment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778068"/>
            <a:ext cx="102576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secure cloud infrastructure with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 secured domain and cloud backup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enabled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UAT sign-off and go-live for production environment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7960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SDLC Phase 6 - Maintenance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562625"/>
            <a:ext cx="1025767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Scheduled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for new features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monitoring for bug fixes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patches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Backup, recovery, and performance optimization strategies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873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Choosing SDLC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1916294"/>
            <a:ext cx="102576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are rigid and fixed.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Extensive documentation is a must.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are not available for constant collaboration.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technology, tools, and scope are well-understood and stable.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dictates a sequential process.</a:t>
            </a:r>
            <a:endParaRPr lang="en-US" sz="2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264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Tools Utilized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131739"/>
            <a:ext cx="1025767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Design: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Visual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Draw.io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Modeling: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Tracking: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Projects</a:t>
            </a:r>
            <a:endParaRPr lang="en-US" sz="28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004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Benefits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562624"/>
            <a:ext cx="1025767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setup and management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coordination and reduced overhead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reporting and analytics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and user-friendly interface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Adaptable to various organizations and event types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456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1480950" y="2511376"/>
            <a:ext cx="77138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&amp; Benefits</a:t>
            </a:r>
          </a:p>
          <a:p>
            <a:pPr algn="ctr"/>
            <a:r>
              <a:rPr lang="en-US" sz="4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44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6586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1921217" y="815975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Costs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49217" y="1886330"/>
            <a:ext cx="5936368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Costs: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$5,000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UI/UX Design – $1,000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and configuration – $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Licenses: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$500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 &amp; Domain (AWS, SSL) – $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300/year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096000" y="1598059"/>
            <a:ext cx="593636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QA: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&amp; Automated Testing Tools – $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400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Maintenance: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deployment – $500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maintenance &amp; updates – $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150/month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Estimated Initial Investment: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~$8,500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Recurring Monthly Costs: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~$150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2956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Tangible Benefits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064534" y="2054498"/>
            <a:ext cx="1025767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Savings: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60–70% reduction in planning and coordination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Reduction: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Decreased need for human coordinators, saving ~$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1,000/month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Generation: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ticketing and premium features could generate $500–$2,000/month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2145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Intangible Benefits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215129" y="2632183"/>
            <a:ext cx="1025767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and engagement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brand reputation and professionalism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 and updates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system ready for organizational growth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476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E079E17-41F0-CB6B-F410-3715D75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0EFAF50B-0FE6-97AD-4A57-FC2B6265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4984102" y="-342900"/>
            <a:ext cx="7506172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87EB305D-F758-3D81-9128-F20140CE1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6343968" y="-342900"/>
            <a:ext cx="6122711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ight Triangle 19">
            <a:extLst>
              <a:ext uri="{FF2B5EF4-FFF2-40B4-BE49-F238E27FC236}">
                <a16:creationId xmlns="" xmlns:a16="http://schemas.microsoft.com/office/drawing/2014/main" id="{51B9869A-D067-773B-9F05-A4BABD3938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15295" y="-342900"/>
            <a:ext cx="4892604" cy="72009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aeed Faal">
            <a:extLst>
              <a:ext uri="{FF2B5EF4-FFF2-40B4-BE49-F238E27FC236}">
                <a16:creationId xmlns="" xmlns:a16="http://schemas.microsoft.com/office/drawing/2014/main" id="{4436DD8B-B019-C0D6-C350-F1A8BEAA6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585F4A8-BFDB-B439-F5AD-F550D3548527}"/>
              </a:ext>
            </a:extLst>
          </p:cNvPr>
          <p:cNvSpPr txBox="1"/>
          <p:nvPr/>
        </p:nvSpPr>
        <p:spPr>
          <a:xfrm>
            <a:off x="2132883" y="879066"/>
            <a:ext cx="7713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91534" y="2778069"/>
            <a:ext cx="1025767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System is a result of a structured SDLC approach combined with robust CASE tools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meets modern event planning demands with automation, scalability, and a superior user experience.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293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C 0.00677 0 0.01237 0.01435 0.01237 0.03241 C 0.01237 0.05 0.00677 0.06481 3.33333E-6 0.06481 C -0.0069 0.06481 -0.01237 0.05 -0.01237 0.03241 C -0.01237 0.01435 -0.0069 0 3.33333E-6 0 Z " pathEditMode="relative" rAng="0" ptsTypes="AAAAA">
                                      <p:cBhvr>
                                        <p:cTn id="12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14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 C 0.00678 0 0.01237 0.01435 0.01237 0.03241 C 0.01237 0.05 0.00678 0.06481 -4.16667E-6 0.06481 C -0.0069 0.06481 -0.01237 0.05 -0.01237 0.03241 C -0.01237 0.01435 -0.0069 0 -4.16667E-6 0 Z " pathEditMode="relative" rAng="0" ptsTypes="AAAAA">
                                      <p:cBhvr>
                                        <p:cTn id="18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0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0 C 0.00677 0 0.01237 0.01435 0.01237 0.03241 C 0.01237 0.05 0.00677 0.06481 2.70833E-6 0.06481 C -0.0069 0.06481 -0.01237 0.05 -0.01237 0.03241 C -0.01237 0.01435 -0.0069 0 2.70833E-6 0 Z " pathEditMode="relative" rAng="0" ptsTypes="AAAAA">
                                      <p:cBhvr>
                                        <p:cTn id="27" dur="10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9" dur="4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1" dur="4000" fill="hold"/>
                                        <p:tgtEl>
                                          <p:spTgt spid="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3" grpId="0" animBg="1"/>
      <p:bldP spid="3" grpId="1" animBg="1"/>
      <p:bldP spid="3" grpId="2" animBg="1"/>
      <p:bldP spid="3" grpId="3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B764A89-8639-DC77-32B4-41C792C7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4628A170-98D7-7FD8-F03E-6E2FC0AFA5F1}"/>
              </a:ext>
            </a:extLst>
          </p:cNvPr>
          <p:cNvGrpSpPr/>
          <p:nvPr/>
        </p:nvGrpSpPr>
        <p:grpSpPr>
          <a:xfrm>
            <a:off x="3169256" y="2576780"/>
            <a:ext cx="4493622" cy="923330"/>
            <a:chOff x="304136" y="2576780"/>
            <a:chExt cx="4493622" cy="923330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007F5875-6661-D149-917D-C795E0756736}"/>
                </a:ext>
              </a:extLst>
            </p:cNvPr>
            <p:cNvSpPr txBox="1"/>
            <p:nvPr/>
          </p:nvSpPr>
          <p:spPr>
            <a:xfrm>
              <a:off x="304136" y="2576780"/>
              <a:ext cx="449362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 You</a:t>
              </a:r>
              <a:endParaRPr lang="en-US" sz="5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E7341AB8-251B-1066-90CE-AAACA398BACF}"/>
                </a:ext>
              </a:extLst>
            </p:cNvPr>
            <p:cNvSpPr txBox="1"/>
            <p:nvPr/>
          </p:nvSpPr>
          <p:spPr>
            <a:xfrm>
              <a:off x="1310812" y="3238500"/>
              <a:ext cx="33822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1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86374D64-6155-0F59-76A1-04A336D79FB3}"/>
              </a:ext>
            </a:extLst>
          </p:cNvPr>
          <p:cNvSpPr txBox="1"/>
          <p:nvPr/>
        </p:nvSpPr>
        <p:spPr>
          <a:xfrm>
            <a:off x="5383663" y="3369305"/>
            <a:ext cx="2364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Edwardian Script ITC" panose="030303020407070D0804" pitchFamily="66" charset="0"/>
              </a:rPr>
              <a:t>Everyone</a:t>
            </a:r>
            <a:endParaRPr lang="en-US" sz="3600" dirty="0">
              <a:latin typeface="Edwardian Script ITC" panose="030303020407070D0804" pitchFamily="66" charset="0"/>
            </a:endParaRPr>
          </a:p>
        </p:txBody>
      </p:sp>
      <p:sp>
        <p:nvSpPr>
          <p:cNvPr id="11" name="Right Triangle 19">
            <a:extLst>
              <a:ext uri="{FF2B5EF4-FFF2-40B4-BE49-F238E27FC236}">
                <a16:creationId xmlns="" xmlns:a16="http://schemas.microsoft.com/office/drawing/2014/main" id="{6DA880A1-5CB6-766A-C59A-8C3E5AE349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7582865" y="-381000"/>
            <a:ext cx="7378149" cy="7239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ight Triangle 19">
            <a:extLst>
              <a:ext uri="{FF2B5EF4-FFF2-40B4-BE49-F238E27FC236}">
                <a16:creationId xmlns="" xmlns:a16="http://schemas.microsoft.com/office/drawing/2014/main" id="{6716A3C1-3650-B6AF-6A6F-A6156EE9BF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 flipV="1">
            <a:off x="8942731" y="-381000"/>
            <a:ext cx="6018284" cy="7239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ight Triangle 19">
            <a:extLst>
              <a:ext uri="{FF2B5EF4-FFF2-40B4-BE49-F238E27FC236}">
                <a16:creationId xmlns="" xmlns:a16="http://schemas.microsoft.com/office/drawing/2014/main" id="{238B041C-33EE-B2EF-9BD2-7744D0B35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69015" y="0"/>
            <a:ext cx="7378149" cy="6858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ight Triangle 19">
            <a:extLst>
              <a:ext uri="{FF2B5EF4-FFF2-40B4-BE49-F238E27FC236}">
                <a16:creationId xmlns="" xmlns:a16="http://schemas.microsoft.com/office/drawing/2014/main" id="{13FB15AF-E0E9-E77D-13E8-0E15E19615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2769015" y="0"/>
            <a:ext cx="6018284" cy="6858000"/>
          </a:xfrm>
          <a:custGeom>
            <a:avLst/>
            <a:gdLst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  <a:gd name="connsiteX0" fmla="*/ 0 w 7378149"/>
              <a:gd name="connsiteY0" fmla="*/ 6858000 h 6858000"/>
              <a:gd name="connsiteX1" fmla="*/ 0 w 7378149"/>
              <a:gd name="connsiteY1" fmla="*/ 0 h 6858000"/>
              <a:gd name="connsiteX2" fmla="*/ 7378149 w 7378149"/>
              <a:gd name="connsiteY2" fmla="*/ 6858000 h 6858000"/>
              <a:gd name="connsiteX3" fmla="*/ 0 w 737814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78149" h="6858000">
                <a:moveTo>
                  <a:pt x="0" y="6858000"/>
                </a:moveTo>
                <a:lnTo>
                  <a:pt x="0" y="0"/>
                </a:lnTo>
                <a:cubicBezTo>
                  <a:pt x="2980083" y="5003800"/>
                  <a:pt x="6963466" y="2806700"/>
                  <a:pt x="7378149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558800" dist="38100" algn="l" rotWithShape="0">
              <a:schemeClr val="tx1">
                <a:alpha val="7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aeed Faal">
            <a:extLst>
              <a:ext uri="{FF2B5EF4-FFF2-40B4-BE49-F238E27FC236}">
                <a16:creationId xmlns="" xmlns:a16="http://schemas.microsoft.com/office/drawing/2014/main" id="{29A6BA65-42EA-ED2F-4AAE-7BF09CDFF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frame">
            <a:avLst>
              <a:gd name="adj1" fmla="val 361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srgbClr val="00206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23404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C 0.00677 -2.22222E-6 0.01237 0.01435 0.01237 0.03241 C 0.01237 0.05 0.00677 0.06482 8.33333E-7 0.06482 C -0.0069 0.06482 -0.01237 0.05 -0.01237 0.03241 C -0.01237 0.01435 -0.0069 -2.22222E-6 8.33333E-7 -2.22222E-6 Z " pathEditMode="relative" rAng="0" ptsTypes="AAAAA">
                                      <p:cBhvr>
                                        <p:cTn id="24" dur="1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26" dur="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4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C 0.00677 -2.22222E-6 0.01237 0.01435 0.01237 0.03241 C 0.01237 0.05 0.00677 0.06482 1.66667E-6 0.06482 C -0.0069 0.06482 -0.01237 0.05 -0.01237 0.03241 C -0.01237 0.01435 -0.0069 -2.22222E-6 1.66667E-6 -2.22222E-6 Z " pathEditMode="relative" rAng="0" ptsTypes="AAAAA">
                                      <p:cBhvr>
                                        <p:cTn id="30" dur="10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32" dur="4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4000" fill="hold"/>
                                        <p:tgtEl>
                                          <p:spTgt spid="12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0 C 0.00677 0 0.01237 0.01435 0.01237 0.03241 C 0.01237 0.05 0.00677 0.06481 -1.45833E-6 0.06481 C -0.0069 0.06481 -0.01237 0.05 -0.01237 0.03241 C -0.01237 0.01435 -0.0069 0 -1.45833E-6 0 Z " pathEditMode="relative" rAng="0" ptsTypes="AAAAA">
                                      <p:cBhvr>
                                        <p:cTn id="3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38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4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0 C 0.00677 0 0.01237 0.01435 0.01237 0.03241 C 0.01237 0.05 0.00677 0.06481 -6.25E-7 0.06481 C -0.0069 0.06481 -0.01237 0.05 -0.01237 0.03241 C -0.01237 0.01435 -0.0069 0 -6.25E-7 0 Z " pathEditMode="relative" rAng="0" ptsTypes="AAAAA">
                                      <p:cBhvr>
                                        <p:cTn id="42" dur="10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8" presetClass="emph" presetSubtype="0" repeatCount="indefinite" accel="25000" decel="25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0">
                                      <p:cBhvr>
                                        <p:cTn id="44" dur="4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6" presetClass="emph" presetSubtype="0" repeatCount="indefinite" accel="25000" decel="25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4000" fill="hold"/>
                                        <p:tgtEl>
                                          <p:spTgt spid="13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1" grpId="1" animBg="1"/>
      <p:bldP spid="11" grpId="2" animBg="1"/>
      <p:bldP spid="11" grpId="3" animBg="1"/>
      <p:bldP spid="12" grpId="0" animBg="1"/>
      <p:bldP spid="12" grpId="1" animBg="1"/>
      <p:bldP spid="12" grpId="2" animBg="1"/>
      <p:bldP spid="12" grpId="3" animBg="1"/>
      <p:bldP spid="13" grpId="0" animBg="1"/>
      <p:bldP spid="13" grpId="1" animBg="1"/>
      <p:bldP spid="13" grpId="2" animBg="1"/>
      <p:bldP spid="13" grpId="3" animBg="1"/>
      <p:bldP spid="14" grpId="0" animBg="1"/>
      <p:bldP spid="14" grpId="1" animBg="1"/>
      <p:bldP spid="14" grpId="2" animBg="1"/>
      <p:bldP spid="14" grpId="3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711</Words>
  <Application>Microsoft Office PowerPoint</Application>
  <PresentationFormat>Widescreen</PresentationFormat>
  <Paragraphs>170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Edwardian Script ITC</vt:lpstr>
      <vt:lpstr>Montserrat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36</cp:revision>
  <dcterms:created xsi:type="dcterms:W3CDTF">2025-04-30T09:24:17Z</dcterms:created>
  <dcterms:modified xsi:type="dcterms:W3CDTF">2026-01-02T07:27:33Z</dcterms:modified>
</cp:coreProperties>
</file>